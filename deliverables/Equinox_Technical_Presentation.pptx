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48640"/>
            <a:ext cx="109728" cy="5303520"/>
          </a:xfrm>
          <a:prstGeom prst="rect">
            <a:avLst/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65836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B775FF"/>
                </a:solidFill>
                <a:latin typeface="Aptos"/>
              </a:rPr>
              <a:t>TECHNICAL PRESENTATION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800" b="1" i="0">
                <a:solidFill>
                  <a:srgbClr val="F5F7FF"/>
                </a:solidFill>
                <a:latin typeface="Aptos Display"/>
              </a:rPr>
              <a:t>EQUINOX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359152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69E7FF"/>
                </a:solidFill>
                <a:latin typeface="Aptos Display"/>
              </a:rPr>
              <a:t>Autonomous energy-aware</a:t>
            </a:r>
          </a:p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69E7FF"/>
                </a:solidFill>
                <a:latin typeface="Aptos Display"/>
              </a:rPr>
              <a:t>workload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703320"/>
            <a:ext cx="6126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8B0C4"/>
                </a:solidFill>
                <a:latin typeface="Aptos"/>
              </a:rPr>
              <a:t>A live control system for moving work, balancing heat, and turning idle infrastructure into capacity instead of waste.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325880"/>
            <a:ext cx="2971800" cy="35661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35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62763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42F59B"/>
                </a:solidFill>
                <a:latin typeface="Aptos"/>
              </a:rPr>
              <a:t>THE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2208" y="201168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800" b="1" i="0">
                <a:solidFill>
                  <a:srgbClr val="F5F7FF"/>
                </a:solidFill>
                <a:latin typeface="Aptos Display"/>
              </a:rPr>
              <a:t>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2084831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8B0C4"/>
                </a:solidFill>
                <a:latin typeface="Aptos"/>
              </a:rPr>
              <a:t>simulated racks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8B0C4"/>
                </a:solidFill>
                <a:latin typeface="Aptos"/>
              </a:rPr>
              <a:t>in the current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288036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800" b="1" i="0">
                <a:solidFill>
                  <a:srgbClr val="F5F7FF"/>
                </a:solidFill>
                <a:latin typeface="Aptos Display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8048" y="2953512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8B0C4"/>
                </a:solidFill>
                <a:latin typeface="Aptos"/>
              </a:rPr>
              <a:t>workload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8B0C4"/>
                </a:solidFill>
                <a:latin typeface="Aptos"/>
              </a:rPr>
              <a:t>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3749039"/>
            <a:ext cx="1371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B775FF"/>
                </a:solidFill>
                <a:latin typeface="Aptos Display"/>
              </a:rPr>
              <a:t>10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8048" y="384048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8B0C4"/>
                </a:solidFill>
                <a:latin typeface="Aptos"/>
              </a:rPr>
              <a:t>slow intake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8B0C4"/>
                </a:solidFill>
                <a:latin typeface="Aptos"/>
              </a:rPr>
              <a:t>cadence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7150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66718A"/>
                </a:solidFill>
                <a:latin typeface="Aptos"/>
              </a:rPr>
              <a:t>PRESENTED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715000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5F7FF"/>
                </a:solidFill>
                <a:latin typeface="Aptos"/>
              </a:rPr>
              <a:t>Tanishq Giri  ·  Aaroh Dharmadhikari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01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The room, in motion.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A fast path from why this matters to how the prototype actually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02 /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5F7FF"/>
                </a:solidFill>
                <a:latin typeface="Aptos"/>
              </a:rPr>
              <a:t>01  General start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807208"/>
            <a:ext cx="4709160" cy="0"/>
          </a:xfrm>
          <a:prstGeom prst="line">
            <a:avLst/>
          </a:prstGeom>
          <a:ln w="7620">
            <a:solidFill>
              <a:srgbClr val="2A3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308152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8B0C4"/>
                </a:solidFill>
                <a:latin typeface="Aptos"/>
              </a:rPr>
              <a:t>02  Problem + relevance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3465576"/>
            <a:ext cx="4709160" cy="0"/>
          </a:xfrm>
          <a:prstGeom prst="line">
            <a:avLst/>
          </a:prstGeom>
          <a:ln w="7620">
            <a:solidFill>
              <a:srgbClr val="2A3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3739896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5F7FF"/>
                </a:solidFill>
                <a:latin typeface="Aptos"/>
              </a:rPr>
              <a:t>03  Innovation + creativity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4123944"/>
            <a:ext cx="4709160" cy="0"/>
          </a:xfrm>
          <a:prstGeom prst="line">
            <a:avLst/>
          </a:prstGeom>
          <a:ln w="7620">
            <a:solidFill>
              <a:srgbClr val="2A3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4398264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8B0C4"/>
                </a:solidFill>
                <a:latin typeface="Aptos"/>
              </a:rPr>
              <a:t>04  Architecture + APIs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4782312"/>
            <a:ext cx="4709160" cy="0"/>
          </a:xfrm>
          <a:prstGeom prst="line">
            <a:avLst/>
          </a:prstGeom>
          <a:ln w="7620">
            <a:solidFill>
              <a:srgbClr val="2A3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5056631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5F7FF"/>
                </a:solidFill>
                <a:latin typeface="Aptos"/>
              </a:rPr>
              <a:t>05  Complexity + execution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5440679"/>
            <a:ext cx="4709160" cy="0"/>
          </a:xfrm>
          <a:prstGeom prst="line">
            <a:avLst/>
          </a:prstGeom>
          <a:ln w="7620">
            <a:solidFill>
              <a:srgbClr val="2A3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63640" y="242316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8B0C4"/>
                </a:solidFill>
                <a:latin typeface="Aptos"/>
              </a:rPr>
              <a:t>06  Working prototype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63640" y="2807208"/>
            <a:ext cx="4709160" cy="0"/>
          </a:xfrm>
          <a:prstGeom prst="line">
            <a:avLst/>
          </a:prstGeom>
          <a:ln w="7620">
            <a:solidFill>
              <a:srgbClr val="2A3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63640" y="308152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5F7FF"/>
                </a:solidFill>
                <a:latin typeface="Aptos"/>
              </a:rPr>
              <a:t>07  UI/UX system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63640" y="3465576"/>
            <a:ext cx="4709160" cy="0"/>
          </a:xfrm>
          <a:prstGeom prst="line">
            <a:avLst/>
          </a:prstGeom>
          <a:ln w="7620">
            <a:solidFill>
              <a:srgbClr val="2A3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63640" y="3739896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8B0C4"/>
                </a:solidFill>
                <a:latin typeface="Aptos"/>
              </a:rPr>
              <a:t>08  Impact + scalability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63640" y="4123944"/>
            <a:ext cx="4709160" cy="0"/>
          </a:xfrm>
          <a:prstGeom prst="line">
            <a:avLst/>
          </a:prstGeom>
          <a:ln w="7620">
            <a:solidFill>
              <a:srgbClr val="2A3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63640" y="4398264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5F7FF"/>
                </a:solidFill>
                <a:latin typeface="Aptos"/>
              </a:rPr>
              <a:t>09  Collaboration + openness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63640" y="4782312"/>
            <a:ext cx="4709160" cy="0"/>
          </a:xfrm>
          <a:prstGeom prst="line">
            <a:avLst/>
          </a:prstGeom>
          <a:ln w="7620">
            <a:solidFill>
              <a:srgbClr val="2A3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63640" y="5056631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8B0C4"/>
                </a:solidFill>
                <a:latin typeface="Aptos"/>
              </a:rPr>
              <a:t>10  The wow factor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63640" y="5440679"/>
            <a:ext cx="4709160" cy="0"/>
          </a:xfrm>
          <a:prstGeom prst="line">
            <a:avLst/>
          </a:prstGeom>
          <a:ln w="7620">
            <a:solidFill>
              <a:srgbClr val="2A3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01 · GENERAL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Compute is physical.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Equinox treats a cluster as a living system: tasks arrive, resources heat up, work moves, and capacity changes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03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54864" cy="3291840"/>
          </a:xfrm>
          <a:prstGeom prst="rect">
            <a:avLst/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THE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Make compute work smarter.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A workload is not just a request. It has a thermal cost, a power cost, a memory footprint, and a lifetime. Equinox makes those costs visible and actionable.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016" y="2468880"/>
            <a:ext cx="54864" cy="3291840"/>
          </a:xfrm>
          <a:prstGeom prst="rect">
            <a:avLst/>
          </a:prstGeom>
          <a:solidFill>
            <a:srgbClr val="42F59B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2F59B"/>
                </a:solidFill>
                <a:latin typeface="Aptos"/>
              </a:rPr>
              <a:t>THE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One better cluster state.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The engine continuously searches for safer, denser placements instead of accepting the first available node forever.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3672" y="2468880"/>
            <a:ext cx="54864" cy="3291840"/>
          </a:xfrm>
          <a:prstGeom prst="rect">
            <a:avLst/>
          </a:prstGeom>
          <a:solidFill>
            <a:srgbClr val="69E7FF"/>
          </a:solidFill>
          <a:ln>
            <a:solidFill>
              <a:srgbClr val="6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551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69E7FF"/>
                </a:solidFill>
                <a:latin typeface="Aptos"/>
              </a:rPr>
              <a:t>THE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A room you can operate.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551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The dashboard turns allocation into a visual control surface: racks, lights, telemetry panels, task lists, logs, and power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02 ·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The problem is not “more servers.”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It is unmanaged state: uneven workload density, hidden thermal pressure, and idle capacity left powered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04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54864" cy="3291840"/>
          </a:xfrm>
          <a:prstGeom prst="rect">
            <a:avLst/>
          </a:prstGeom>
          <a:solidFill>
            <a:srgbClr val="FF5F67"/>
          </a:solidFill>
          <a:ln>
            <a:solidFill>
              <a:srgbClr val="FF5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FF5F67"/>
                </a:solidFill>
                <a:latin typeface="Aptos"/>
              </a:rPr>
              <a:t>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Static placement wastes headroom.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A task can be technically running while the room is operationally inefficient. One node saturates while peers sit cold and empty.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016" y="2468880"/>
            <a:ext cx="54864" cy="329184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FACC15"/>
                </a:solidFill>
                <a:latin typeface="Aptos"/>
              </a:rPr>
              <a:t>ENERGY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Idle capacity still costs.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Powering every rack for a burst that has already ended makes the infrastructure pay for yesterday’s demand.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3672" y="2468880"/>
            <a:ext cx="54864" cy="3291840"/>
          </a:xfrm>
          <a:prstGeom prst="rect">
            <a:avLst/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551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Telemetry without action is a report.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551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CPU and temperature numbers matter only when they influence placement, migration, shutdown, or restart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02 · RELEVANCE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Why this matters 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AI workloads, inference, games, storage, and services do not share the same resource shape — or the same heat curve.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05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54864" cy="3291840"/>
          </a:xfrm>
          <a:prstGeom prst="rect">
            <a:avLst/>
          </a:prstGeom>
          <a:solidFill>
            <a:srgbClr val="42F59B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2F59B"/>
                </a:solidFill>
                <a:latin typeface="Aptos"/>
              </a:rPr>
              <a:t>REAL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Mixed workloads are the default.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The task catalog represents operating-system work, background services, ML, LLM execution, gaming, hosting, disk I/O, and general tasks.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016" y="2468880"/>
            <a:ext cx="54864" cy="3291840"/>
          </a:xfrm>
          <a:prstGeom prst="rect">
            <a:avLst/>
          </a:prstGeom>
          <a:solidFill>
            <a:srgbClr val="69E7FF"/>
          </a:solidFill>
          <a:ln>
            <a:solidFill>
              <a:srgbClr val="6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69E7FF"/>
                </a:solidFill>
                <a:latin typeface="Aptos"/>
              </a:rPr>
              <a:t>RESOURCE PRESSURE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Every resource has a ceiling.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The prototype models CPU, RAM, GPU, VRAM, power, and temperature against per-node envelopes instead of a single generic “load” score.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3672" y="2468880"/>
            <a:ext cx="54864" cy="3291840"/>
          </a:xfrm>
          <a:prstGeom prst="rect">
            <a:avLst/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551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HUMAN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Operators need a readable state.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551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Equinox makes the invisible tradeoff legible: accept, move, consolidate, power down, or keep capacity online.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03 ·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The innovation is choreography.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Equinox turns capacity management into a visible sequence of decisions instead of a silent threshold alarm.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06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54864" cy="3291840"/>
          </a:xfrm>
          <a:prstGeom prst="rect">
            <a:avLst/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POWER-AWARE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Lights out is a feature.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In Autonomous mode, work is drained, nodes transition gradually, and only demand reactivates capacity. The room itself communicates the algorithm.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016" y="2468880"/>
            <a:ext cx="54864" cy="3291840"/>
          </a:xfrm>
          <a:prstGeom prst="rect">
            <a:avLst/>
          </a:prstGeom>
          <a:solidFill>
            <a:srgbClr val="FF5F67"/>
          </a:solidFill>
          <a:ln>
            <a:solidFill>
              <a:srgbClr val="FF5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FF5F67"/>
                </a:solidFill>
                <a:latin typeface="Aptos"/>
              </a:rPr>
              <a:t>THERMAL-AWARE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Heat has 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Temperature eases toward a target derived from task heat and node state. The visualization avoids unrealistic instant jumps.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3672" y="2468880"/>
            <a:ext cx="54864" cy="3291840"/>
          </a:xfrm>
          <a:prstGeom prst="rect">
            <a:avLst/>
          </a:prstGeom>
          <a:solidFill>
            <a:srgbClr val="42F59B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551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2F59B"/>
                </a:solidFill>
                <a:latin typeface="Aptos"/>
              </a:rPr>
              <a:t>CONTROL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Allocation never really stops.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551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A slow task intake cadence, finite task lifetimes, migration, completion, consolidation, and reactivation create a continuous simulation.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04 ·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A small stack with a clear control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Next.js owns the surface and internal API routes; the browser simulation owns the live runtime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07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48840"/>
            <a:ext cx="9784080" cy="475488"/>
          </a:xfrm>
          <a:prstGeom prst="roundRect">
            <a:avLst>
              <a:gd name="adj" fmla="val 8000"/>
            </a:avLst>
          </a:prstGeom>
          <a:solidFill>
            <a:srgbClr val="181F32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2402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BROWSER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240280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5F7FF"/>
                </a:solidFill>
                <a:latin typeface="Aptos"/>
              </a:rPr>
              <a:t>Landing · About · Login · Dashboard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52160" y="2624328"/>
            <a:ext cx="0" cy="192024"/>
          </a:xfrm>
          <a:prstGeom prst="line">
            <a:avLst/>
          </a:prstGeom>
          <a:ln w="16510">
            <a:solidFill>
              <a:srgbClr val="B7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33856" y="2834640"/>
            <a:ext cx="9345167" cy="475488"/>
          </a:xfrm>
          <a:prstGeom prst="roundRect">
            <a:avLst>
              <a:gd name="adj" fmla="val 8000"/>
            </a:avLst>
          </a:prstGeom>
          <a:solidFill>
            <a:srgbClr val="181F32"/>
          </a:solidFill>
          <a:ln>
            <a:solidFill>
              <a:srgbClr val="6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2456" y="29260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9E7FF"/>
                </a:solidFill>
                <a:latin typeface="Aptos"/>
              </a:rPr>
              <a:t>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5" y="2926080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5F7FF"/>
                </a:solidFill>
                <a:latin typeface="Aptos"/>
              </a:rPr>
              <a:t>React state · Three.js scene · telemetry panels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52160" y="3310128"/>
            <a:ext cx="0" cy="192024"/>
          </a:xfrm>
          <a:prstGeom prst="line">
            <a:avLst/>
          </a:prstGeom>
          <a:ln w="16510">
            <a:solidFill>
              <a:srgbClr val="69E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353312" y="3520440"/>
            <a:ext cx="8906255" cy="475488"/>
          </a:xfrm>
          <a:prstGeom prst="roundRect">
            <a:avLst>
              <a:gd name="adj" fmla="val 8000"/>
            </a:avLst>
          </a:prstGeom>
          <a:solidFill>
            <a:srgbClr val="181F32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81912" y="36118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42F59B"/>
                </a:solidFill>
                <a:latin typeface="Aptos"/>
              </a:rPr>
              <a:t>SIMULATION 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611880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5F7FF"/>
                </a:solidFill>
                <a:latin typeface="Aptos"/>
              </a:rPr>
              <a:t>useSimulation() · task intake · placement · power state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3995928"/>
            <a:ext cx="0" cy="192024"/>
          </a:xfrm>
          <a:prstGeom prst="line">
            <a:avLst/>
          </a:prstGeom>
          <a:ln w="16510">
            <a:solidFill>
              <a:srgbClr val="42F5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572768" y="4206240"/>
            <a:ext cx="8467344" cy="475488"/>
          </a:xfrm>
          <a:prstGeom prst="roundRect">
            <a:avLst>
              <a:gd name="adj" fmla="val 8000"/>
            </a:avLst>
          </a:prstGeom>
          <a:solidFill>
            <a:srgbClr val="181F32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01368" y="4297679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ACC15"/>
                </a:solidFill>
                <a:latin typeface="Aptos"/>
              </a:rPr>
              <a:t>INTERNAL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4297679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5F7FF"/>
                </a:solidFill>
                <a:latin typeface="Aptos"/>
              </a:rPr>
              <a:t>GET /api/tasks · GET /api/powerwall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52160" y="4681727"/>
            <a:ext cx="0" cy="192025"/>
          </a:xfrm>
          <a:prstGeom prst="line">
            <a:avLst/>
          </a:prstGeom>
          <a:ln w="16510">
            <a:solidFill>
              <a:srgbClr val="FACC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792224" y="4892040"/>
            <a:ext cx="8028431" cy="475488"/>
          </a:xfrm>
          <a:prstGeom prst="roundRect">
            <a:avLst>
              <a:gd name="adj" fmla="val 8000"/>
            </a:avLst>
          </a:prstGeom>
          <a:solidFill>
            <a:srgbClr val="181F32"/>
          </a:solidFill>
          <a:ln>
            <a:solidFill>
              <a:srgbClr val="FF5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0824" y="4983479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F5F67"/>
                </a:solidFill>
                <a:latin typeface="Aptos"/>
              </a:rPr>
              <a:t>ASSETS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86783" y="4983479"/>
            <a:ext cx="6949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5F7FF"/>
                </a:solidFill>
                <a:latin typeface="Aptos"/>
              </a:rPr>
              <a:t>CSV task library · GLB rack · GLB Powerwall · fonts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15000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A8B0C4"/>
                </a:solidFill>
                <a:latin typeface="Aptos"/>
              </a:rPr>
              <a:t>The important design choice: the demo does not pretend to be a distributed production scheduler. It is a transparent, deterministic prototype of the decisions a scheduler would make.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04 · DATA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The task library becomes live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The CSV is not decoration: it is parsed into typed templates and becomes the source of resource-aware workloads.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08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54864" cy="3291840"/>
          </a:xfrm>
          <a:prstGeom prst="rect">
            <a:avLst/>
          </a:prstGeom>
          <a:solidFill>
            <a:srgbClr val="69E7FF"/>
          </a:solidFill>
          <a:ln>
            <a:solidFill>
              <a:srgbClr val="6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69E7FF"/>
                </a:solidFill>
                <a:latin typeface="Aptos"/>
              </a:rPr>
              <a:t>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agenticwork/tasks_preview.csv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The library contains 400 task records across eight categories with unique IDs, believable names, intensity tiers, and range-based resource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016" y="2468880"/>
            <a:ext cx="54864" cy="3291840"/>
          </a:xfrm>
          <a:prstGeom prst="rect">
            <a:avLst/>
          </a:prstGeom>
          <a:solidFill>
            <a:srgbClr val="42F59B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2F59B"/>
                </a:solidFill>
                <a:latin typeface="Aptos"/>
              </a:rPr>
              <a:t>NORMALIZE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Average the ranges.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The route handler extracts numeric ranges and averages their endpoints. The browser receives stable numeric values for simulation.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3672" y="2468880"/>
            <a:ext cx="54864" cy="3291840"/>
          </a:xfrm>
          <a:prstGeom prst="rect">
            <a:avLst/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551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Give every task a lifetime.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551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makeTask() creates a unique runtime UID and a bounded duration; heavy categories receive longer minimum lifetimes.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04 · API + SPONSOR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Small APIs. Honest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The current build uses internal Next.js route handlers and open-source runtime libraries; no external sponsor integration is connected.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09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54864" cy="3291840"/>
          </a:xfrm>
          <a:prstGeom prst="rect">
            <a:avLst/>
          </a:prstGeom>
          <a:solidFill>
            <a:srgbClr val="42F59B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2F59B"/>
                </a:solidFill>
                <a:latin typeface="Aptos"/>
              </a:rPr>
              <a:t>TASK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GET /api/tasks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Reads the local CSV, parses rows, converts ranges to numeric averages, and returns JSON consumed by useSimulation().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016" y="2468880"/>
            <a:ext cx="54864" cy="3291840"/>
          </a:xfrm>
          <a:prstGeom prst="rect">
            <a:avLst/>
          </a:prstGeom>
          <a:solidFill>
            <a:srgbClr val="69E7FF"/>
          </a:solidFill>
          <a:ln>
            <a:solidFill>
              <a:srgbClr val="6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69E7FF"/>
                </a:solidFill>
                <a:latin typeface="Aptos"/>
              </a:rPr>
              <a:t>ASSET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GET /api/powerwall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Streams the attached Powerwall GLB with the model/gltf-binary content type so Three.js can mount it in the room.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3672" y="2468880"/>
            <a:ext cx="54864" cy="3291840"/>
          </a:xfrm>
          <a:prstGeom prst="rect">
            <a:avLst/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551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SPONSOR 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Not currently connected.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551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Three.js, React, Next.js, and Framer Motion are open-source dependencies. A future sponsor API can feed real telemetry behind the same typed boundary.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05 · TECHNICAL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The hard part is state, not screens.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The prototype coordinates independent lifecycles: task completion, migration, node power actions, thermal easing, and UI rendering.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10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54864" cy="3291840"/>
          </a:xfrm>
          <a:prstGeom prst="rect">
            <a:avLst/>
          </a:prstGeom>
          <a:solidFill>
            <a:srgbClr val="42F59B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2F59B"/>
                </a:solidFill>
                <a:latin typeface="Aptos"/>
              </a:rPr>
              <a:t>PLACEMENT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Multi-resource admission.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canAccept() checks CPU, RAM, GPU, VRAM, power, and a temperature constraint against an 80% operating envelope.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016" y="2468880"/>
            <a:ext cx="54864" cy="3291840"/>
          </a:xfrm>
          <a:prstGeom prst="rect">
            <a:avLst/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MIGRATION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Move without overload.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Transfers are blocked when a peer cannot accept the full task set. Manual termination marks a task as transferring before it disappears.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3672" y="2468880"/>
            <a:ext cx="54864" cy="329184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551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FACC15"/>
                </a:solidFill>
                <a:latin typeface="Aptos"/>
              </a:rPr>
              <a:t>POWER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Staggered state transitions.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551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Starting and stopping are asynchronous, sequentially delayed, and reflected in both telemetry state and 3D rack lights.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05 ·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What happens every second.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The one-second loop updates temperatures, decrements task lifetimes, removes completed work, and decides whether intake or consolidation is due.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11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54864" cy="3291840"/>
          </a:xfrm>
          <a:prstGeom prst="rect">
            <a:avLst/>
          </a:prstGeom>
          <a:solidFill>
            <a:srgbClr val="FF5F67"/>
          </a:solidFill>
          <a:ln>
            <a:solidFill>
              <a:srgbClr val="FF5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FF5F67"/>
                </a:solidFill>
                <a:latin typeface="Aptos"/>
              </a:rPr>
              <a:t>TICK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Telemetry evolves.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Each node moves toward a target temperature. Offline nodes cool; active nodes respond to their current task heat.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016" y="2468880"/>
            <a:ext cx="54864" cy="3291840"/>
          </a:xfrm>
          <a:prstGeom prst="rect">
            <a:avLst/>
          </a:prstGeom>
          <a:solidFill>
            <a:srgbClr val="69E7FF"/>
          </a:solidFill>
          <a:ln>
            <a:solidFill>
              <a:srgbClr val="6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69E7FF"/>
                </a:solidFill>
                <a:latin typeface="Aptos"/>
              </a:rPr>
              <a:t>INTAKE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Every 10 seconds.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The prototype intentionally uses a slow arrival cadence. In normal mode it assigns directly; in Autonomous mode it queues and dispatches.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3672" y="2468880"/>
            <a:ext cx="54864" cy="3291840"/>
          </a:xfrm>
          <a:prstGeom prst="rect">
            <a:avLst/>
          </a:prstGeom>
          <a:solidFill>
            <a:srgbClr val="42F59B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551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2F59B"/>
                </a:solidFill>
                <a:latin typeface="Aptos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Capacity follows demand.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551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Autonomous mode activates a node only when queued work cannot fit, then consolidates empty or movable nodes back down.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06 · 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A working prototype, not a slideware promise.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The dashboard has a login gate, a live 3D room, node hover telemetry, cluster task management, power controls, autonomous mode, and logs.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12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54864" cy="3291840"/>
          </a:xfrm>
          <a:prstGeom prst="rect">
            <a:avLst/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OPERATE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Overview.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Rotate and zoom the rack room, hover a rack, inspect live metrics, read cluster summaries, toggle Autonomous mode, and power a cluster sequentially.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016" y="2468880"/>
            <a:ext cx="54864" cy="3291840"/>
          </a:xfrm>
          <a:prstGeom prst="rect">
            <a:avLst/>
          </a:prstGeom>
          <a:solidFill>
            <a:srgbClr val="69E7FF"/>
          </a:solidFill>
          <a:ln>
            <a:solidFill>
              <a:srgbClr val="6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69E7FF"/>
                </a:solidFill>
                <a:latin typeface="Aptos"/>
              </a:rPr>
              <a:t>INSPECT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Live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Select a cluster, review its process list, inspect all node telemetry, and request a task transfer/termination.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3672" y="2468880"/>
            <a:ext cx="54864" cy="3291840"/>
          </a:xfrm>
          <a:prstGeom prst="rect">
            <a:avLst/>
          </a:prstGeom>
          <a:solidFill>
            <a:srgbClr val="42F59B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551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2F59B"/>
                </a:solidFill>
                <a:latin typeface="Aptos"/>
              </a:rPr>
              <a:t>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Logs.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551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Engine, autonomous, power, transfer, completion, and notice events form a readable narrative of what the control loop did.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06 · AUTONOMOUS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The loop is designed to stay alive.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Autonomous mode first drains and powers down capacity, then becomes a demand-driven allocator with continuous slow intake.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13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54864" cy="329184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FACC15"/>
                </a:solidFill>
                <a:latin typeface="Aptos"/>
              </a:rPr>
              <a:t>ENGAGE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Preserve then drain.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Current workloads move into a pending queue. Nodes stop sequentially so the room visibly reaches a lower-power baseline.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016" y="2468880"/>
            <a:ext cx="54864" cy="3291840"/>
          </a:xfrm>
          <a:prstGeom prst="rect">
            <a:avLst/>
          </a:prstGeom>
          <a:solidFill>
            <a:srgbClr val="42F59B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2F59B"/>
                </a:solidFill>
                <a:latin typeface="Aptos"/>
              </a:rPr>
              <a:t>ALLOCATE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Queue → fit → activate.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Queued work is placed onto an accepting node. If none can fit, the next offline node starts and dispatch resumes.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3672" y="2468880"/>
            <a:ext cx="54864" cy="3291840"/>
          </a:xfrm>
          <a:prstGeom prst="rect">
            <a:avLst/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551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RECOVER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Consolidate after work ends.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551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The runtime moves compatible tasks together and schedules empty nodes for shutdown, preventing green but idle racks from accumulating.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07 · UI /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A control room with a calm signal.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The UI uses dark glass panels, purple/cyan accents, readable operational states, and a deliberate hierarchy from room-level to node-level detail.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14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54864" cy="3291840"/>
          </a:xfrm>
          <a:prstGeom prst="rect">
            <a:avLst/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ORIENTATION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Three levels of zoom.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Landing page explains the idea. Overview shows the room. Live Workflow exposes cluster and node operations. Logs explain the timeline.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016" y="2468880"/>
            <a:ext cx="54864" cy="3291840"/>
          </a:xfrm>
          <a:prstGeom prst="rect">
            <a:avLst/>
          </a:prstGeom>
          <a:solidFill>
            <a:srgbClr val="42F59B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2F59B"/>
                </a:solidFill>
                <a:latin typeface="Aptos"/>
              </a:rPr>
              <a:t>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State is visual and textual.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Rack lights, colored labels, capacity bars, task counts, notices, and log events reinforce the same state through different channels.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3672" y="2468880"/>
            <a:ext cx="54864" cy="3291840"/>
          </a:xfrm>
          <a:prstGeom prst="rect">
            <a:avLst/>
          </a:prstGeom>
          <a:solidFill>
            <a:srgbClr val="69E7FF"/>
          </a:solidFill>
          <a:ln>
            <a:solidFill>
              <a:srgbClr val="6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551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69E7FF"/>
                </a:solidFill>
                <a:latin typeface="Aptos"/>
              </a:rPr>
              <a:t>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Readable under pressure.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551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The dashboard uses explicit labels, disabled states, status colors, and enlarged small text so operational metadata is not treated as decoration.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08 ·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Less waste. More usable compute.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The immediate value is not a magical energy claim; it is a measurable control strategy that makes energy-aware placement understandable.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15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54864" cy="3291840"/>
          </a:xfrm>
          <a:prstGeom prst="rect">
            <a:avLst/>
          </a:prstGeom>
          <a:solidFill>
            <a:srgbClr val="42F59B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2F59B"/>
                </a:solidFill>
                <a:latin typeface="Aptos"/>
              </a:rPr>
              <a:t>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Consolidate idle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When compatible tasks share a node, empty servers can move toward offline, reducing modeled power draw and visual clutter.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016" y="2468880"/>
            <a:ext cx="54864" cy="329184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FACC15"/>
                </a:solidFill>
                <a:latin typeface="Aptos"/>
              </a:rPr>
              <a:t>RESILIENCE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Keep headroom visible.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The 80% admission target leaves room for variance, while high-state visuals communicate when the room is approaching pressure.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3672" y="2468880"/>
            <a:ext cx="54864" cy="3291840"/>
          </a:xfrm>
          <a:prstGeom prst="rect">
            <a:avLst/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551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OPERABILITY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Make decisions explainable.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551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Each transfer, activation, shutdown, and completion is logged so an operator can answer “why did this node change?”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08 ·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Scale the boundary, not the confusion.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The prototype can grow from a browser simulation into a real scheduler by replacing data sources behind the same control concepts.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16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54864" cy="3291840"/>
          </a:xfrm>
          <a:prstGeom prst="rect">
            <a:avLst/>
          </a:prstGeom>
          <a:solidFill>
            <a:srgbClr val="69E7FF"/>
          </a:solidFill>
          <a:ln>
            <a:solidFill>
              <a:srgbClr val="6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69E7FF"/>
                </a:solidFill>
                <a:latin typeface="Aptos"/>
              </a:rPr>
              <a:t>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30 → 60 → real clusters.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The original brief targets 30 nodes; the current visual demo renders 60 nodes across six clusters. The next step is config-driven topology.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016" y="2468880"/>
            <a:ext cx="54864" cy="3291840"/>
          </a:xfrm>
          <a:prstGeom prst="rect">
            <a:avLst/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CSV → stream.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Replace the local task route with a queue, telemetry broker, or scheduler adapter while retaining typed task templates and admission checks.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3672" y="2468880"/>
            <a:ext cx="54864" cy="3291840"/>
          </a:xfrm>
          <a:prstGeom prst="rect">
            <a:avLst/>
          </a:prstGeom>
          <a:solidFill>
            <a:srgbClr val="42F59B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551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2F59B"/>
                </a:solidFill>
                <a:latin typeface="Aptos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Rules → model assist.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551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A learned scoring model can rank placements, but hard resource and safety constraints should remain deterministic guardrails.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09 · TEAM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Two people. One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The split follows the product’s two halves: the infrastructure experience and the intelligence/data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17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54864" cy="3291840"/>
          </a:xfrm>
          <a:prstGeom prst="rect">
            <a:avLst/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TANISHQ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Backend + frontend lead.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Owns the Next.js application shell, dashboard UX, Three.js room, navigation, telemetry surfaces, simulation integration, visual system, and end-to-end product assembly.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016" y="2468880"/>
            <a:ext cx="54864" cy="3291840"/>
          </a:xfrm>
          <a:prstGeom prst="rect">
            <a:avLst/>
          </a:prstGeom>
          <a:solidFill>
            <a:srgbClr val="42F59B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2F59B"/>
                </a:solidFill>
                <a:latin typeface="Aptos"/>
              </a:rPr>
              <a:t>AAROH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Library + API + intelligence.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Owns task-library creation and curation, API development for task/model delivery, data-science framing, workload profiles, and small validation/documentation improvements.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3672" y="2468880"/>
            <a:ext cx="54864" cy="3291840"/>
          </a:xfrm>
          <a:prstGeom prst="rect">
            <a:avLst/>
          </a:prstGeom>
          <a:solidFill>
            <a:srgbClr val="69E7FF"/>
          </a:solidFill>
          <a:ln>
            <a:solidFill>
              <a:srgbClr val="6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551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69E7FF"/>
                </a:solidFill>
                <a:latin typeface="Aptos"/>
              </a:rPr>
              <a:t>TOGETHER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Integrate at typed seams.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551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Agree on the task schema, resource units, node bounds, event language, and demo narrative so data and UI evolve without breaking the control story.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09 · OPEN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Open by contribution, honest by default.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The repository currently has no explicit LICENSE file, so open-source availability is a decision to make before public release.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18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54864" cy="3291840"/>
          </a:xfrm>
          <a:prstGeom prst="rect">
            <a:avLst/>
          </a:prstGeom>
          <a:solidFill>
            <a:srgbClr val="42F59B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2F59B"/>
                </a:solidFill>
                <a:latin typeface="Aptos"/>
              </a:rPr>
              <a:t>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Dependencies are open source.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Next.js, React, Three.js, Framer Motion, TypeScript, and their transitive ecosystem are used as open-source building blocks.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016" y="2468880"/>
            <a:ext cx="54864" cy="3291840"/>
          </a:xfrm>
          <a:prstGeom prst="rect">
            <a:avLst/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RECOMMEND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Add a project license.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MIT is a practical default for the application code; keep asset licenses and any generated task data provenance documented separately.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3672" y="2468880"/>
            <a:ext cx="54864" cy="3291840"/>
          </a:xfrm>
          <a:prstGeom prst="rect">
            <a:avLst/>
          </a:prstGeom>
          <a:solidFill>
            <a:srgbClr val="69E7FF"/>
          </a:solidFill>
          <a:ln>
            <a:solidFill>
              <a:srgbClr val="6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551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69E7FF"/>
                </a:solidFill>
                <a:latin typeface="Aptos"/>
              </a:rPr>
              <a:t>CONTRIBUTE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Make the seams welcoming.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551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Publish the schema, add setup instructions, provide fixture data, label simulation vs production behavior, and accept improvements to schedulers, adapters, and UI.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10 · WOW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The room does not just glow. It decides.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Equinox’s epic moment is the Autonomous transition: a busy room drains, lights go out, demand returns, and capacity wakes back up only when it has a reason.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19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54864" cy="3291840"/>
          </a:xfrm>
          <a:prstGeom prst="rect">
            <a:avLst/>
          </a:prstGeom>
          <a:solidFill>
            <a:srgbClr val="69E7FF"/>
          </a:solidFill>
          <a:ln>
            <a:solidFill>
              <a:srgbClr val="6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69E7FF"/>
                </a:solidFill>
                <a:latin typeface="Aptos"/>
              </a:rPr>
              <a:t>CINEMATIC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Power lines tell the 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The Three.js scene turns abstract allocation into visible energy paths, rack states, pulsing supply, and a Powerwall asset.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016" y="2468880"/>
            <a:ext cx="54864" cy="3291840"/>
          </a:xfrm>
          <a:prstGeom prst="rect">
            <a:avLst/>
          </a:prstGeom>
          <a:solidFill>
            <a:srgbClr val="42F59B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2F59B"/>
                </a:solidFill>
                <a:latin typeface="Aptos"/>
              </a:rPr>
              <a:t>ALIVE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Tasks have a heartbeat.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Work arrives slowly, runs for a bounded lifetime, completes, transfers, and changes the thermal state around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3672" y="2468880"/>
            <a:ext cx="54864" cy="3291840"/>
          </a:xfrm>
          <a:prstGeom prst="rect">
            <a:avLst/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551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MEMORABLE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The operator sees cause and effect.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551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Toggle Autonomous and the room performs the algorithm in front of you. It is both a demo and a mental model for energy-aware scheduling.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77724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B775FF"/>
                </a:solidFill>
                <a:latin typeface="Aptos"/>
              </a:rPr>
              <a:t>11 · DEFENSE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>
                <a:solidFill>
                  <a:srgbClr val="F5F7FF"/>
                </a:solidFill>
                <a:latin typeface="Aptos Display"/>
              </a:rPr>
              <a:t>The 60-second explanation.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5564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8B0C4"/>
                </a:solidFill>
                <a:latin typeface="Aptos"/>
              </a:rPr>
              <a:t>If the room is moving fast, use this answer: Equinox is a browser-based prototype of energy-aware workload orchestration.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0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 i="0">
                <a:solidFill>
                  <a:srgbClr val="F5F7FF"/>
                </a:solidFill>
                <a:latin typeface="Aptos"/>
              </a:rPr>
              <a:t>EQUINOX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20 /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68880"/>
            <a:ext cx="54864" cy="3291840"/>
          </a:xfrm>
          <a:prstGeom prst="rect">
            <a:avLst/>
          </a:prstGeom>
          <a:solidFill>
            <a:srgbClr val="FF5F67"/>
          </a:solidFill>
          <a:ln>
            <a:solidFill>
              <a:srgbClr val="FF5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FF5F67"/>
                </a:solidFill>
                <a:latin typeface="Aptos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Clusters waste energy when workloads are placed without thermal or power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Equinox models mixed tasks and node bounds so placement becomes a multi-resource decision.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016" y="2468880"/>
            <a:ext cx="54864" cy="3291840"/>
          </a:xfrm>
          <a:prstGeom prst="rect">
            <a:avLst/>
          </a:prstGeom>
          <a:solidFill>
            <a:srgbClr val="42F59B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42F59B"/>
                </a:solidFill>
                <a:latin typeface="Aptos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A continuous control loop.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Tasks arrive every 10 seconds, live tasks consume resources, compatible workloads consolidate, and idle nodes power down.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3672" y="2468880"/>
            <a:ext cx="3523488" cy="32918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A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3672" y="2468880"/>
            <a:ext cx="54864" cy="3291840"/>
          </a:xfrm>
          <a:prstGeom prst="rect">
            <a:avLst/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551" y="2633472"/>
            <a:ext cx="3203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B775FF"/>
                </a:solidFill>
                <a:latin typeface="Aptos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2907792"/>
            <a:ext cx="32034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5F7FF"/>
                </a:solidFill>
                <a:latin typeface="Aptos"/>
              </a:rPr>
              <a:t>Working product surface.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551" y="3401568"/>
            <a:ext cx="320344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A8B0C4"/>
                </a:solidFill>
                <a:latin typeface="Aptos"/>
              </a:rPr>
              <a:t>A real Next.js dashboard renders a 3D room, live telemetry, task operations, API-fed workload data, autonomous transitions, and logs.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B775FF"/>
                </a:solidFill>
                <a:latin typeface="Aptos"/>
              </a:rPr>
              <a:t>THE NEXT STATE.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8686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 i="0">
                <a:solidFill>
                  <a:srgbClr val="F5F7FF"/>
                </a:solidFill>
                <a:latin typeface="Aptos Display"/>
              </a:rPr>
              <a:t>Compute that</a:t>
            </a:r>
          </a:p>
          <a:p>
            <a:pPr algn="l">
              <a:spcAft>
                <a:spcPts val="200"/>
              </a:spcAft>
            </a:pPr>
            <a:r>
              <a:rPr sz="4200" b="1" i="0">
                <a:solidFill>
                  <a:srgbClr val="F5F7FF"/>
                </a:solidFill>
                <a:latin typeface="Aptos Display"/>
              </a:rPr>
              <a:t>knows when to move.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8862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69E7FF"/>
                </a:solidFill>
                <a:latin typeface="Aptos Display"/>
              </a:rPr>
              <a:t>EQUINOX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66344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8B0C4"/>
                </a:solidFill>
                <a:latin typeface="Aptos"/>
              </a:rPr>
              <a:t>Tanishq Giri  ·  Aaroh Dharmadhikari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8B0C4"/>
                </a:solidFill>
                <a:latin typeface="Aptos"/>
              </a:rPr>
              <a:t>Autonomous energy-aware workload orchestration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143000"/>
            <a:ext cx="2560320" cy="3611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35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32520" y="1600200"/>
            <a:ext cx="1783080" cy="64008"/>
          </a:xfrm>
          <a:prstGeom prst="roundRect">
            <a:avLst>
              <a:gd name="adj" fmla="val 8000"/>
            </a:avLst>
          </a:prstGeom>
          <a:solidFill>
            <a:srgbClr val="B775FF"/>
          </a:solidFill>
          <a:ln>
            <a:solidFill>
              <a:srgbClr val="B7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32520" y="2084832"/>
            <a:ext cx="1783080" cy="64008"/>
          </a:xfrm>
          <a:prstGeom prst="roundRect">
            <a:avLst>
              <a:gd name="adj" fmla="val 8000"/>
            </a:avLst>
          </a:prstGeom>
          <a:solidFill>
            <a:srgbClr val="69E7FF"/>
          </a:solidFill>
          <a:ln>
            <a:solidFill>
              <a:srgbClr val="69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32520" y="2569464"/>
            <a:ext cx="1783080" cy="64008"/>
          </a:xfrm>
          <a:prstGeom prst="roundRect">
            <a:avLst>
              <a:gd name="adj" fmla="val 8000"/>
            </a:avLst>
          </a:prstGeom>
          <a:solidFill>
            <a:srgbClr val="42F59B"/>
          </a:solidFill>
          <a:ln>
            <a:solidFill>
              <a:srgbClr val="42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32520" y="3054096"/>
            <a:ext cx="1783080" cy="64008"/>
          </a:xfrm>
          <a:prstGeom prst="roundRect">
            <a:avLst>
              <a:gd name="adj" fmla="val 8000"/>
            </a:avLst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32520" y="3538728"/>
            <a:ext cx="1783080" cy="64008"/>
          </a:xfrm>
          <a:prstGeom prst="roundRect">
            <a:avLst>
              <a:gd name="adj" fmla="val 8000"/>
            </a:avLst>
          </a:prstGeom>
          <a:solidFill>
            <a:srgbClr val="FF5F67"/>
          </a:solidFill>
          <a:ln>
            <a:solidFill>
              <a:srgbClr val="FF5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397763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5F7FF"/>
                </a:solidFill>
                <a:latin typeface="Aptos"/>
              </a:rPr>
              <a:t>MAKE COMPUTE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5F7FF"/>
                </a:solidFill>
                <a:latin typeface="Aptos"/>
              </a:rPr>
              <a:t>WORK SMARTER.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283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EQUINOX  ·  ENERGY-AWARE WORKLOAD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420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 i="0">
                <a:solidFill>
                  <a:srgbClr val="66718A"/>
                </a:solidFill>
                <a:latin typeface="Aptos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