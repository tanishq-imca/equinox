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solidFill>
            <a:srgbClr val="05070B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4ADE80"/>
                </a:solidFill>
                <a:latin typeface="Calibri"/>
              </a:rPr>
              <a:t>PROPRIETARY  ·  TECHNICAL PRESENTATION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0" b="1" i="0" spc="900">
                <a:solidFill>
                  <a:srgbClr val="E6EDF3"/>
                </a:solidFill>
                <a:latin typeface="Calibri"/>
              </a:rPr>
              <a:t>AURA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 spc="200">
                <a:solidFill>
                  <a:srgbClr val="B6C2CF"/>
                </a:solidFill>
                <a:latin typeface="Calibri"/>
              </a:rPr>
              <a:t>Health Arena — A High-Performance, AI-Driven Sanctuary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709160"/>
            <a:ext cx="22860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892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707E8C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Tanishq Giri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Sanika Sadre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892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500">
                <a:solidFill>
                  <a:srgbClr val="707E8C"/>
                </a:solidFill>
                <a:latin typeface="Calibri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166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6EDF3"/>
                </a:solidFill>
                <a:latin typeface="Calibri"/>
              </a:rPr>
              <a:t>v.2026.04 — Local-First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500">
                <a:solidFill>
                  <a:srgbClr val="707E8C"/>
                </a:solidFill>
                <a:latin typeface="Calibri"/>
              </a:rP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6EDF3"/>
                </a:solidFill>
                <a:latin typeface="Calibri"/>
              </a:rPr>
              <a:t>Mental Wellness · AR/VR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Index of the Presentation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9164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Project Vision &amp; 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2055688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07568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7568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Problem Space &amp; Our Approach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2439736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45973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5973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Tech Stack at a Glance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2823784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28437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43784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System Architecture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3207832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2278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22783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Backend — Python &amp; Flask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3591880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61188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61188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Persistence — Local JSON Engine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88720" y="3975928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399592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9592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Identity, Auth &amp; Recovery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88720" y="4359976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437997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37997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Frontend Rendering Model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88720" y="4744024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76402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764024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Visual System — Glassmorphism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88720" y="5128072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14807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14807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OOBE — Cinematic Onboarding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88720" y="5512120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63640" y="169164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169164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Therapy Engine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03720" y="2055688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63640" y="207568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07568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Dashboard Inner Workings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903720" y="2439736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63640" y="245973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45973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Journal &amp; Reflective Analysis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03720" y="2823784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63640" y="28437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2843784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Analytics &amp; Behavioral Insights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03720" y="3207832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63640" y="32278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322783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Audio Architecture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903720" y="3591880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63640" y="361188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361188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AI Behind the Scenes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903720" y="3975928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63640" y="399592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399592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System Telemetry (psutil)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03720" y="4359976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263640" y="437997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37997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Why These Choices — Tradeoffs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903720" y="4744024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263640" y="476402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4764024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Benefits to the User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903720" y="5128072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63640" y="514807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300">
                <a:solidFill>
                  <a:srgbClr val="4ADE80"/>
                </a:solidFill>
                <a:latin typeface="Calibri"/>
              </a:rPr>
              <a:t>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514807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alibri"/>
              </a:rPr>
              <a:t>Roadmap &amp; What's Next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903720" y="5512120"/>
            <a:ext cx="4663440" cy="0"/>
          </a:xfrm>
          <a:prstGeom prst="line">
            <a:avLst/>
          </a:prstGeom>
          <a:ln w="63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01 ·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Project Vision &amp; Mission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A personalised digital sanctuary that bridges high-performance computing with human emotional well-being.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Replace cold clinical interfaces with a warm, intelligent environment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Built for immersive AR/VR (UEVR) sessions and desktop alike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Culturally resonant — adapts to the user's spiritual alignment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Local-first privacy: the sanctuary lives on the user's machine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Recalibrate mood, manage stress, find alignment through 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54480"/>
            <a:ext cx="3840480" cy="457200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4ADE80"/>
                </a:solidFill>
                <a:latin typeface="Calibri"/>
              </a:rPr>
              <a:t>AT A GLANCE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2057400"/>
            <a:ext cx="777240" cy="0"/>
          </a:xfrm>
          <a:prstGeom prst="line">
            <a:avLst/>
          </a:prstGeom>
          <a:ln w="1587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0" y="224028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44144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Mental Wellness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83464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03580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Web · AR/VR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42900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63016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Local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0233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AI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22452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GPT-3.5 +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61772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LICENSE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81888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Proprietary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02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Problem Space &amp; Our Approach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Modern wellness apps are noisy, cloud-bound, and emotionally generic. AURA inverts every one of those defaults.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Most apps push users to the cloud — AURA stays on-device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Most apps render generic UI — AURA personalises by alignment &amp; mood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Most apps are stateless tools — AURA is a continuous environment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Most apps separate data and feeling — AURA fuses telemetry &amp; UX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Most apps stop at measurement — AURA interprets the meaning, in-app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03 ·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Tech Stack at a Glance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Six tight layers, one repository — optimised for cohesion over abstraction.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4884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 lIns="60000" rIns="60000"/>
                    <a:lstStyle/>
                    <a:p>
                      <a:pPr algn="l"/>
                      <a:r>
                        <a:rPr b="1" sz="1100">
                          <a:solidFill>
                            <a:srgbClr val="E6EDF3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F6F43"/>
                    </a:solidFill>
                  </a:tcPr>
                </a:tc>
                <a:tc>
                  <a:txBody>
                    <a:bodyPr lIns="60000" rIns="60000"/>
                    <a:lstStyle/>
                    <a:p>
                      <a:pPr algn="l"/>
                      <a:r>
                        <a:rPr b="1" sz="1100">
                          <a:solidFill>
                            <a:srgbClr val="E6EDF3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1F6F43"/>
                    </a:solidFill>
                  </a:tcPr>
                </a:tc>
                <a:tc>
                  <a:txBody>
                    <a:bodyPr lIns="60000" rIns="60000"/>
                    <a:lstStyle/>
                    <a:p>
                      <a:pPr algn="l"/>
                      <a:r>
                        <a:rPr b="1" sz="1100">
                          <a:solidFill>
                            <a:srgbClr val="E6EDF3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F6F43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Python 3.x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Application spine, file &amp; data ops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Flask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Routes, sessions, JSON APIs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Templating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Jinja2 + HTML5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Server-rendered pages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Vanilla JS · CSS3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Choreography, animation, charts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Chart.js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Mood, stress, response balance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Web Audio API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Reactive ambient music &amp; narration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OpenAI GPT-3.5 Turbo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Sentiment, insights, narrative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Telemetry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psutil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CPU / RAM / disk awareness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Local JSON engine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Profiles, journals, sessions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Unified Local-First System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A monolithic Flask process serves UI, APIs, sessions and persistence — no external database, no microservices, no cloud dependency.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7863840" cy="96012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09728" cy="9601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4ADE80"/>
                </a:solidFill>
                <a:latin typeface="Calibri"/>
              </a:rPr>
              <a:t>CLIENT  ·  Browser / VR Headset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CF"/>
                </a:solidFill>
                <a:latin typeface="Calibri"/>
              </a:rPr>
              <a:t>HTML5 · CSS3 · Vanilla JS · Chart.js · Web Audio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7863840" cy="96012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10128"/>
            <a:ext cx="109728" cy="960120"/>
          </a:xfrm>
          <a:prstGeom prst="rect">
            <a:avLst/>
          </a:prstGeom>
          <a:solidFill>
            <a:srgbClr val="C9A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C9A966"/>
                </a:solidFill>
                <a:latin typeface="Calibri"/>
              </a:rPr>
              <a:t>DELIVERY  ·  Flask Routing &amp;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CF"/>
                </a:solidFill>
                <a:latin typeface="Calibri"/>
              </a:rPr>
              <a:t>Page routes  ·  /api/* JSON endpoints  ·  before_request 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79976"/>
            <a:ext cx="7863840" cy="96012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79976"/>
            <a:ext cx="109728" cy="96012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970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6EA8FE"/>
                </a:solidFill>
                <a:latin typeface="Calibri"/>
              </a:rPr>
              <a:t>APPLICATION  ·  Python Spine (main.py)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3717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CF"/>
                </a:solidFill>
                <a:latin typeface="Calibri"/>
              </a:rPr>
              <a:t>Identity · OOBE · Therapy · Journal · Analytics · Telemetry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9824"/>
            <a:ext cx="7863840" cy="96012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449824"/>
            <a:ext cx="109728" cy="960120"/>
          </a:xfrm>
          <a:prstGeom prst="rect">
            <a:avLst/>
          </a:prstGeom>
          <a:solidFill>
            <a:srgbClr val="C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595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C97BFF"/>
                </a:solidFill>
                <a:latin typeface="Calibri"/>
              </a:rPr>
              <a:t>PERSISTENCE  ·  storage_manager.py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070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C2CF"/>
                </a:solidFill>
                <a:latin typeface="Calibri"/>
              </a:rPr>
              <a:t>data/users · data/user_data/&lt;user&gt;/{preferences,uploads,journal,...}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240280"/>
            <a:ext cx="3017520" cy="420624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4ADE80"/>
                </a:solidFill>
                <a:latin typeface="Calibri"/>
              </a:rPr>
              <a:t>REQUEST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74320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1.  Browser hits route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2.  Flask checks session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3.  Render Jinja template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    OR return JSON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4.  JS hydrates the page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5.  fetch /api/* for data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6.  storage_manager r/w JSON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7.  UI animates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05 ·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Python &amp; Flask — The Application Spine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main.py is the entry point and route registry; Flask is the runtime boundary between browser and application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Bootstraps Flask, session config, secret key &amp; cookie hardening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Calls storage_manager.init_storage() on startup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Registers page routes: /, /login, /oobe, /journal, /analytics, /settings…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Exposes JSON APIs: /api/users, /api/login, /api/profile, /api/storage/&lt;key&gt;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@app.before_request guard redirects unauthenticated users to /login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/api/sys_usage streams live telemetry; /api/analyze_journal scores mood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54480"/>
            <a:ext cx="3840480" cy="457200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4ADE80"/>
                </a:solidFill>
                <a:latin typeface="Calibri"/>
              </a:rPr>
              <a:t>WHY FLASK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2057400"/>
            <a:ext cx="777240" cy="0"/>
          </a:xfrm>
          <a:prstGeom prst="line">
            <a:avLst/>
          </a:prstGeom>
          <a:ln w="1587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0" y="2240280"/>
            <a:ext cx="35661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Minimal overhead, VR-friendly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Server-rendered + JSON in one app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Session cookies built-in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Single-process, easy to reason about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Pairs with custom JS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06 ·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Local JSON Engine (storage_manager.py)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No SQL, no ORM, no cloud DB. A structured filesystem layout with a deliberate persistence adapter.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data/users/ — per-user profile JSON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data/user_data/&lt;username&gt;/ — preferences · uploads · journal · sessions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Case-insensitive profile lookup &amp; merge-on-load hydration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Avatars persisted as Base64 inside the profile (portable backups)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Atomic writes via temp-file replace flow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Corrupt-profile detection with restore &amp; purge protocols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54480"/>
            <a:ext cx="3840480" cy="457200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4ADE80"/>
                </a:solidFill>
                <a:latin typeface="Calibri"/>
              </a:rPr>
              <a:t>TRADEOFFS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2057400"/>
            <a:ext cx="777240" cy="0"/>
          </a:xfrm>
          <a:prstGeom prst="line">
            <a:avLst/>
          </a:prstGeom>
          <a:ln w="1587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0" y="2240280"/>
            <a:ext cx="35661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+ Zero infra setup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+ Transparent debugging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+ Trivially portable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− No cross-file transactions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− Concurrency is best-effort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− App-side querying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07 ·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Identity, Authentication &amp; Recovery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Identity is treated as part of the product experience, not a utility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Social-tag identity:  Username#1234 — unique &amp; memorable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12-character minimum passwords + security question/answer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Flask session cookies: HttpOnly, SameSite=Lax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New user creation immediately seeds a session — no extra login round-trip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Corrupt profile detection with restore-minimum-viable &amp; purge cycles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Profile fields extend cleanly without schema migrations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08 ·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Server-Rendered, Behaviour-Rich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Templates are the primary rendering layer — not placeholders for a JS framework.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Each page owns its own behaviour: dashboard, journal, analytics, settings…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base.html holds fonts, glass tokens, sidebar, transitions, music engine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Direct route-to-page rendering — small client boot, easy injection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Page reveal engine: staged fade · blur · slide with completion signals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Analytics text appears after the reveal — UX sequencing as a primitive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09 · VISUAL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Glassmorphism as a UI Engine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The visual layer is a deliberate design system, not decoration on 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Frosted glass panels with variable backdrop blur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Thin light borders, restrained 5px corner radius across surfaces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Accent-driven glow — single token cascades to the whole product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Procedurally generated mandalas seeded by religion &amp; current mood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Audio-reactive pulsing via an AnalyserNode on the global music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54480"/>
            <a:ext cx="3840480" cy="457200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4ADE80"/>
                </a:solidFill>
                <a:latin typeface="Calibri"/>
              </a:rPr>
              <a:t>CORE TOKENS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2057400"/>
            <a:ext cx="777240" cy="0"/>
          </a:xfrm>
          <a:prstGeom prst="line">
            <a:avLst/>
          </a:prstGeom>
          <a:ln w="1587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0" y="224028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ACCENT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44144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#4ADE80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83464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RADIUS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03580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5px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42900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BLUR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63016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30px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0233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FONTS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22452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Pasajero · Bourgeois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61772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0">
                <a:solidFill>
                  <a:srgbClr val="707E8C"/>
                </a:solidFill>
                <a:latin typeface="Calibri"/>
              </a:rPr>
              <a:t>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81888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Glass over Wallpaper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10 · OOBE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Cinematic Onboarding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More than a setup wizard — it establishes the AURA contract: personal, responsive, theatrical.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Greeting by name, then sequential narration with typewriter reveal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Stress-dial introduction (low / medium / high preview animations)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Spiritual alignment &amp; primary stress source captured up-front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Audio-text synchronisation: text waits for narration to finish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Explicit text → audio file mapping with alias fallbacks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Concludes by handing the user a fully-tailored sanctuary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11 ·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Therapy Engine — Behaviour &amp; Metrics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Therapy is a measurable behavioural signal, not a cosmetic interaction.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Lifecycle: start → breathing choreography → prompts → answers → summary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Live stress adjustment per answer (goodAnswers / badAnswers / moodDelta)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Reassurance lines paired 1:1 to MP3 narration assets — no inference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Session duration, dates and outcome persisted to user storage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▍ </a:t>
            </a:r>
            <a:r>
              <a:rPr sz="1300">
                <a:solidFill>
                  <a:srgbClr val="B6C2CF"/>
                </a:solidFill>
                <a:latin typeface="Calibri"/>
              </a:rPr>
              <a:t>Feeds dashboard vitality &amp; coherence and downstream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54480"/>
            <a:ext cx="3840480" cy="457200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4ADE80"/>
                </a:solidFill>
                <a:latin typeface="Calibri"/>
              </a:rPr>
              <a:t>SIGNALS CAPTURED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2057400"/>
            <a:ext cx="777240" cy="0"/>
          </a:xfrm>
          <a:prstGeom prst="line">
            <a:avLst/>
          </a:prstGeom>
          <a:ln w="1587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0" y="2240280"/>
            <a:ext cx="35661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stress score Δ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good / bad answers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session duration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moodDelta per session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engagement footprint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12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The Runtime Cockpit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Where the system feels alive — telemetry, therapy, mood and audio in one frame.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Terminal/log feed with system-level event stream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Main therapy visual surface with breathing &amp; mandala animation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Stress · Vitality · Coherence — now derived from real interaction data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Live mood chart shifts after each therapy answer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Background audio controller with reactive analyser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13 · JOURNAL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Journal &amp; Reflective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A first-class reflective surface, not a notes panel.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Text entries with mood tagging and optional media attachments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/api/analyze_journal scores sentiment via heuristic word-buckets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Deterministic, fast and fully local — privacy by default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Optional GPT-3.5 enrichment available for nuanced phrasing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Historical entries surface in Analytics as a long-term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14 ·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From Session Logs to Behavioural Readouts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Analytics interprets — it doesn't just plot.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Baseline stress · therapy session count · average sentiment · day streak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Stress &amp; sentiment trajectory chart across sessions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Therapy response balance: positive ↑ bars, negative ↓ bars, mood line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AI behavioural insights: engagement, bias, momentum, reactivity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‘What This Means For You’ panel translates numbers into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15 ·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Audio Architecture — Three Roles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Music, narration and reassurance — each with its own contract.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Global ambient track per spiritual alignment, persisted across pages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Continuity via localStorage: playback time + paused-state restore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OOBE narration with text→file lookup and progression gates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Therapy reassurances mapped deterministically to MP3 assets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AnalyserNode drives subtle UI pulsing on dashboard &amp; mandalas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Where &amp; How AI Works Behind the Scenes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AURA blends a deterministic on-device analyzer with optional GPT-3.5 Turbo for richer language understanding. Every AI surface has a fallback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40680" cy="219456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73152" cy="21945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01 · Sentiment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"/>
              </a:rPr>
              <a:t>Journal Mood Score (0–100)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Local heuristic word-bucket scorer in /api/analyze_journal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Deterministic, fast, privacy-safe — no network round-trip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Optional GPT-3.5 enrichment for nuance &amp; insight phrasing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194560"/>
            <a:ext cx="5440680" cy="219456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194560"/>
            <a:ext cx="73152" cy="21945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02 · AURA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"/>
              </a:rPr>
              <a:t>Periodic reflective summaries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Scans historical journal &amp; therapy data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Synthesises engagement, response bias, momentum, reactivity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Produces human-tone narrative shown in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5440680" cy="219456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73152" cy="21945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03 · Therapy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"/>
              </a:rPr>
              <a:t>Live behavioral signal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goodAnswers / badAnswers feed moodDelta in real time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Stress, vitality &amp; coherence recompute per response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Reassurance lines mapped 1:1 to narration audio assets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526280"/>
            <a:ext cx="5440680" cy="2194560"/>
          </a:xfrm>
          <a:prstGeom prst="rect">
            <a:avLst/>
          </a:prstGeom>
          <a:solidFill>
            <a:srgbClr val="0E141C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526280"/>
            <a:ext cx="73152" cy="21945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04 · OOBE Personalisation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377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"/>
              </a:rPr>
              <a:t>Adaptive cinematic 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9496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Spiritual alignment selects ambient track + mandala seed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Stress-source answers shape first-session prompts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▍ </a:t>
            </a:r>
            <a:r>
              <a:rPr sz="1100">
                <a:solidFill>
                  <a:srgbClr val="B6C2CF"/>
                </a:solidFill>
                <a:latin typeface="Calibri"/>
              </a:rPr>
              <a:t>Narration coordinated with typed text via playback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17 ·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System Telemetry via psutil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Telemetry is both ambience and operational awareness.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/api/sys_usage exposes CPU %, RAM %, disk %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Dashboard renders telemetry as live ‘vital’ lanes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Used as a soft caution signal during therapy if host is stressed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Disk currently stands in for the third lane (presentational choice)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18 ·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Why These Choices — Honest Tradeoffs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C2CF"/>
                </a:solidFill>
                <a:latin typeface="Calibri"/>
              </a:rPr>
              <a:t>Every architectural choice in AURA is a deliberate tradeoff — documented, not accidental.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4884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 lIns="60000" rIns="60000"/>
                    <a:lstStyle/>
                    <a:p>
                      <a:pPr algn="l"/>
                      <a:r>
                        <a:rPr b="1" sz="1100">
                          <a:solidFill>
                            <a:srgbClr val="E6EDF3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1F6F43"/>
                    </a:solidFill>
                  </a:tcPr>
                </a:tc>
                <a:tc>
                  <a:txBody>
                    <a:bodyPr lIns="60000" rIns="60000"/>
                    <a:lstStyle/>
                    <a:p>
                      <a:pPr algn="l"/>
                      <a:r>
                        <a:rPr b="1" sz="1100">
                          <a:solidFill>
                            <a:srgbClr val="E6EDF3"/>
                          </a:solidFill>
                          <a:latin typeface="Calibri"/>
                        </a:rPr>
                        <a:t>Win</a:t>
                      </a:r>
                    </a:p>
                  </a:txBody>
                  <a:tcPr>
                    <a:solidFill>
                      <a:srgbClr val="1F6F43"/>
                    </a:solidFill>
                  </a:tcPr>
                </a:tc>
                <a:tc>
                  <a:txBody>
                    <a:bodyPr lIns="60000" rIns="60000"/>
                    <a:lstStyle/>
                    <a:p>
                      <a:pPr algn="l"/>
                      <a:r>
                        <a:rPr b="1" sz="1100">
                          <a:solidFill>
                            <a:srgbClr val="E6EDF3"/>
                          </a:solidFill>
                          <a:latin typeface="Calibri"/>
                        </a:rPr>
                        <a:t>Tradeoff</a:t>
                      </a:r>
                    </a:p>
                  </a:txBody>
                  <a:tcPr>
                    <a:solidFill>
                      <a:srgbClr val="1F6F43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Monolithic Flask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Cohesion · single repo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Will need Blueprints as routes grow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Local JSON storage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Zero infra · portable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No cross-file transactions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Vanilla JS frontend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Total control of timing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More hand-written boilerplate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Heuristic journal AI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Fast · private · deterministic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Less nuance than full LLM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Optional GPT-3.5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Rich language when desired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Requires API key &amp; network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</a:tr>
              <a:tr h="50292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Server-rendered pages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Simple route-to-page model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100">
                          <a:solidFill>
                            <a:srgbClr val="B6C2CF"/>
                          </a:solidFill>
                          <a:latin typeface="Calibri"/>
                        </a:rPr>
                        <a:t>Less SPA-like client routing</a:t>
                      </a:r>
                    </a:p>
                  </a:txBody>
                  <a:tcPr>
                    <a:solidFill>
                      <a:srgbClr val="05070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19 ·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Benefits to the User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What the user actually gets out of AURA, day to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Immediate stress relief, tailored to alignment &amp; current mood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Privacy-centric — no cloud profile tracking, ever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High-performance: smooth, nausea-free in VR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Intelligent growth — track your mental health over weeks &amp; months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A sanctuary that *remembers* you across sessions and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707E8C"/>
                </a:solidFill>
                <a:latin typeface="Calibri"/>
              </a:rPr>
              <a:t>AURA / TECH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20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Calibri"/>
              </a:rPr>
              <a:t>What's Next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914400" cy="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6C2CF"/>
                </a:solidFill>
                <a:latin typeface="Calibri"/>
              </a:rPr>
              <a:t>Where AURA is heading from this build forward.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Modularise routes into Flask Blueprints by domain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Add an optional encrypted-at-rest layer over storage_manager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Expand therapy engine with biometric inputs (HRV, breath sensors)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Native UEVR plugin for in-headset sanctuary handoff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Opt-in GPT-4 class insights with on-device prompt redaction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▍ </a:t>
            </a:r>
            <a:r>
              <a:rPr sz="1400">
                <a:solidFill>
                  <a:srgbClr val="B6C2CF"/>
                </a:solidFill>
                <a:latin typeface="Calibri"/>
              </a:rPr>
              <a:t>Multi-device sync via end-to-end encrypted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707E8C"/>
                </a:solidFill>
                <a:latin typeface="Calibri"/>
              </a:rPr>
              <a:t>AURA  ·  Health Arena  ·  Technical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707E8C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 spc="700">
                <a:solidFill>
                  <a:srgbClr val="E6EDF3"/>
                </a:solidFill>
                <a:latin typeface="Calibri"/>
              </a:rPr>
              <a:t>Thank You.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657600"/>
            <a:ext cx="1828800" cy="0"/>
          </a:xfrm>
          <a:prstGeom prst="line">
            <a:avLst/>
          </a:prstGeom>
          <a:ln w="254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B6C2CF"/>
                </a:solidFill>
                <a:latin typeface="Calibri"/>
              </a:rPr>
              <a:t>Engineered for Calm.  Powered by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707E8C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Calibri"/>
              </a:rPr>
              <a:t>Tanishq Giri  ·  Sanika Sadre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400">
                <a:solidFill>
                  <a:srgbClr val="707E8C"/>
                </a:solidFill>
                <a:latin typeface="Calibri"/>
              </a:rPr>
              <a:t>© 2026  ·  AURA Health Arena  ·  Proprietary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